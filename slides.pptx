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Average"/>
      <p:regular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36097F-0F31-42C7-8BFD-743276CBCE4E}">
  <a:tblStyle styleId="{1136097F-0F31-42C7-8BFD-743276CBCE4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Oswald-regular.fntdata"/><Relationship Id="rId16" Type="http://schemas.openxmlformats.org/officeDocument/2006/relationships/font" Target="fonts/Averag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Oswa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b3f7238a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b3f7238a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b3f7238a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b3f7238a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b3f7238a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b3f7238a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b3f7238a8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b3f7238a8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3f7238a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b3f7238a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b3f7238a8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b3f7238a8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b3f7238a8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b3f7238a8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3f7238a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3f7238a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1250250" y="3183275"/>
            <a:ext cx="6643500" cy="13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Unsecured lending on XRPL, protected by a junior layer.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 1 · XLS-65 · XLS-66 · XLS-33 · XLS-70/80 · XLS-85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Antoine * (Bastide + Decorne)</a:t>
            </a:r>
            <a:endParaRPr/>
          </a:p>
        </p:txBody>
      </p:sp>
      <p:sp>
        <p:nvSpPr>
          <p:cNvPr id="60" name="Google Shape;60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Loss Credit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Crypto lending doesn't work for real businesses.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To borrow $100k you must already have $150k.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Nobody who needs credit has that.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do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b="1" lang="en"/>
              <a:t>We take the first loss.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Lenders deposit. We put our own capital underneath.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A loan goes bad → our money goes first.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  $1 of our capital carries $10 of lending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we lend to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An importer, waiting 90 days to be paid.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Invoices are real. The cash arrives late.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They borrow against them. Lenders earn 8%.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market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$2.5 trillion of demand nobody will fund.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41% of small business trade finance requests are rejected.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Large corporates: 7%.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All of on-chain credit today: $8 billion. That's 0.3% of the gap.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Why the rate is fair</a:t>
            </a:r>
            <a:endParaRPr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311700" y="1152475"/>
            <a:ext cx="8520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  Your track record sets your price.</a:t>
            </a:r>
            <a:endParaRPr b="1"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 sz="18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  $1M pool · 90-day loan · 3 payments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graphicFrame>
        <p:nvGraphicFramePr>
          <p:cNvPr id="91" name="Google Shape;91;p18"/>
          <p:cNvGraphicFramePr/>
          <p:nvPr/>
        </p:nvGraphicFramePr>
        <p:xfrm>
          <a:off x="311700" y="20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{1136097F-0F31-42C7-8BFD-743276CBCE4E}</a:tableStyleId>
              </a:tblPr>
              <a:tblGrid>
                <a:gridCol w="3700000"/>
                <a:gridCol w="2300000"/>
                <a:gridCol w="252060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300" u="none" cap="none" strike="noStrike">
                          <a:solidFill>
                            <a:srgbClr val="9EA7AB"/>
                          </a:solidFill>
                        </a:rPr>
                        <a:t>Rate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300" u="none" cap="none" strike="noStrike">
                          <a:solidFill>
                            <a:srgbClr val="9EA7AB"/>
                          </a:solidFill>
                        </a:rPr>
                        <a:t>You can borrow</a:t>
                      </a:r>
                      <a:endParaRPr/>
                    </a:p>
                  </a:txBody>
                  <a:tcPr marT="0" marB="0" marR="91425" marL="91425" anchor="ctr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700" u="none" cap="none" strike="noStrike">
                          <a:solidFill>
                            <a:srgbClr val="FFFFFF"/>
                          </a:solidFill>
                        </a:rPr>
                        <a:t>First loan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 u="none" cap="none" strike="noStrike">
                          <a:solidFill>
                            <a:srgbClr val="FFFFFF"/>
                          </a:solidFill>
                        </a:rPr>
                        <a:t>12.3%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 u="none" cap="none" strike="noStrike">
                          <a:solidFill>
                            <a:srgbClr val="FFFFFF"/>
                          </a:solidFill>
                        </a:rPr>
                        <a:t>$50k</a:t>
                      </a:r>
                      <a:endParaRPr/>
                    </a:p>
                  </a:txBody>
                  <a:tcPr marT="0" marB="0" marR="91425" marL="91425" anchor="ctr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700" u="none" cap="none" strike="noStrike">
                          <a:solidFill>
                            <a:srgbClr val="FFFFFF"/>
                          </a:solidFill>
                        </a:rPr>
                        <a:t>After 1 repaid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700" u="none" cap="none" strike="noStrike">
                          <a:solidFill>
                            <a:srgbClr val="FFFFFF"/>
                          </a:solidFill>
                        </a:rPr>
                        <a:t>10.3%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700" u="none" cap="none" strike="noStrike">
                          <a:solidFill>
                            <a:srgbClr val="FFFFFF"/>
                          </a:solidFill>
                        </a:rPr>
                        <a:t>$150k</a:t>
                      </a:r>
                      <a:endParaRPr/>
                    </a:p>
                  </a:txBody>
                  <a:tcPr marT="0" marB="0" marR="91425" marL="91425" anchor="ctr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700" u="none" cap="none" strike="noStrike">
                          <a:solidFill>
                            <a:srgbClr val="FFFFFF"/>
                          </a:solidFill>
                        </a:rPr>
                        <a:t>After 3 repaid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700" u="none" cap="none" strike="noStrike">
                          <a:solidFill>
                            <a:srgbClr val="FFFFFF"/>
                          </a:solidFill>
                        </a:rPr>
                        <a:t>8.8%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700" u="none" cap="none" strike="noStrike">
                          <a:solidFill>
                            <a:srgbClr val="FFFFFF"/>
                          </a:solidFill>
                        </a:rPr>
                        <a:t>$300k</a:t>
                      </a:r>
                      <a:endParaRPr/>
                    </a:p>
                  </a:txBody>
                  <a:tcPr marT="0" marB="0" marR="91425" marL="91425" anchor="ctr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700" u="none" cap="none" strike="noStrike">
                          <a:solidFill>
                            <a:srgbClr val="FFFFFF"/>
                          </a:solidFill>
                        </a:rPr>
                        <a:t>+ market credential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 u="none" cap="none" strike="noStrike">
                          <a:solidFill>
                            <a:srgbClr val="FFFFFF"/>
                          </a:solidFill>
                        </a:rPr>
                        <a:t>7.8%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 u="none" cap="none" strike="noStrike">
                          <a:solidFill>
                            <a:srgbClr val="FFFFFF"/>
                          </a:solidFill>
                        </a:rPr>
                        <a:t>$500k</a:t>
                      </a:r>
                      <a:endParaRPr/>
                    </a:p>
                  </a:txBody>
                  <a:tcPr marT="0" marB="0" marR="91425" marL="91425" anchor="ctr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700" u="none" cap="none" strike="noStrike">
                          <a:solidFill>
                            <a:srgbClr val="FFFFFF"/>
                          </a:solidFill>
                        </a:rPr>
                        <a:t>After a default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 u="none" cap="none" strike="noStrike">
                          <a:solidFill>
                            <a:srgbClr val="FFFFFF"/>
                          </a:solidFill>
                        </a:rPr>
                        <a:t>—</a:t>
                      </a:r>
                      <a:endParaRPr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 u="none" cap="none" strike="noStrike">
                          <a:solidFill>
                            <a:srgbClr val="FFFFFF"/>
                          </a:solidFill>
                        </a:rPr>
                        <a:t>blocked</a:t>
                      </a:r>
                      <a:endParaRPr/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92" name="Google Shape;92;p18"/>
          <p:cNvSpPr txBox="1"/>
          <p:nvPr/>
        </p:nvSpPr>
        <p:spPr>
          <a:xfrm>
            <a:off x="311700" y="4560000"/>
            <a:ext cx="8520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9EA7AB"/>
                </a:solidFill>
                <a:latin typeface="Arial"/>
                <a:ea typeface="Arial"/>
                <a:cs typeface="Arial"/>
                <a:sym typeface="Arial"/>
              </a:rPr>
              <a:t>  Liquidity, debt ceiling, cover and duration caps still apply.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One account must own the pool, run the desk, and sign the loans.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That's why we hold keys for our users.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Every loan needs two signatures. No wallet can make the second one.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The 10% safety cushion only protects 2% of the book.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1626450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Video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